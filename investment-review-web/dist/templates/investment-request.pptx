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9c2afc76864183" /><Relationship Type="http://schemas.openxmlformats.org/officeDocument/2006/relationships/extended-properties" Target="/docProps/app.xml" Id="R5c7bfdd1363e4521" /><Relationship Type="http://schemas.openxmlformats.org/officeDocument/2006/relationships/officeDocument" Target="/ppt/presentation.xml" Id="R46d58ce20ff049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9aa70b07ff40cf"/>
  </p:sldMasterIdLst>
  <p:notesMasterIdLst>
    <p:notesMasterId xmlns:r="http://schemas.openxmlformats.org/officeDocument/2006/relationships" r:id="R61cd414d2ac14b05"/>
  </p:notesMasterIdLst>
  <p:sldIdLst>
    <p:sldId xmlns:r="http://schemas.openxmlformats.org/officeDocument/2006/relationships" id="256" r:id="Rabdc1aac0fbc403b"/>
    <p:sldId xmlns:r="http://schemas.openxmlformats.org/officeDocument/2006/relationships" id="257" r:id="R731bd1bbe94e49d9"/>
    <p:sldId xmlns:r="http://schemas.openxmlformats.org/officeDocument/2006/relationships" id="258" r:id="Rb110a64b96714563"/>
    <p:sldId xmlns:r="http://schemas.openxmlformats.org/officeDocument/2006/relationships" id="259" r:id="R0456d87dc7214dbd"/>
    <p:sldId xmlns:r="http://schemas.openxmlformats.org/officeDocument/2006/relationships" id="260" r:id="R2da38132f436451b"/>
    <p:sldId xmlns:r="http://schemas.openxmlformats.org/officeDocument/2006/relationships" id="261" r:id="Rca44df4c495e4834"/>
    <p:sldId xmlns:r="http://schemas.openxmlformats.org/officeDocument/2006/relationships" id="262" r:id="Rc2c93f6c3de74118"/>
    <p:sldId xmlns:r="http://schemas.openxmlformats.org/officeDocument/2006/relationships" id="263" r:id="Rc6744eb1d5224085"/>
    <p:sldId xmlns:r="http://schemas.openxmlformats.org/officeDocument/2006/relationships" id="264" r:id="R91717bdc7ba24d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47ae90777d4021" /><Relationship Type="http://schemas.openxmlformats.org/officeDocument/2006/relationships/slideMaster" Target="/ppt/slideMasters/slideMaster1.xml" Id="R139aa70b07ff40cf" /><Relationship Type="http://schemas.openxmlformats.org/officeDocument/2006/relationships/notesMaster" Target="/ppt/notesMasters/notesMaster1.xml" Id="R61cd414d2ac14b05" /><Relationship Type="http://schemas.openxmlformats.org/officeDocument/2006/relationships/presProps" Target="/ppt/presProps.xml" Id="R3dc168710f7c42e3" /><Relationship Type="http://schemas.openxmlformats.org/officeDocument/2006/relationships/tableStyles" Target="/ppt/tableStyles.xml" Id="R9352125986bc4bec" /><Relationship Type="http://schemas.openxmlformats.org/officeDocument/2006/relationships/slide" Target="/ppt/slides/slide1.xml" Id="Rabdc1aac0fbc403b" /><Relationship Type="http://schemas.openxmlformats.org/officeDocument/2006/relationships/slide" Target="/ppt/slides/slide2.xml" Id="R731bd1bbe94e49d9" /><Relationship Type="http://schemas.openxmlformats.org/officeDocument/2006/relationships/slide" Target="/ppt/slides/slide3.xml" Id="Rb110a64b96714563" /><Relationship Type="http://schemas.openxmlformats.org/officeDocument/2006/relationships/slide" Target="/ppt/slides/slide4.xml" Id="R0456d87dc7214dbd" /><Relationship Type="http://schemas.openxmlformats.org/officeDocument/2006/relationships/slide" Target="/ppt/slides/slide5.xml" Id="R2da38132f436451b" /><Relationship Type="http://schemas.openxmlformats.org/officeDocument/2006/relationships/slide" Target="/ppt/slides/slide6.xml" Id="Rca44df4c495e4834" /><Relationship Type="http://schemas.openxmlformats.org/officeDocument/2006/relationships/slide" Target="/ppt/slides/slide7.xml" Id="Rc2c93f6c3de74118" /><Relationship Type="http://schemas.openxmlformats.org/officeDocument/2006/relationships/slide" Target="/ppt/slides/slide8.xml" Id="Rc6744eb1d5224085" /><Relationship Type="http://schemas.openxmlformats.org/officeDocument/2006/relationships/slide" Target="/ppt/slides/slide9.xml" Id="R91717bdc7ba24d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776bca29644e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7203608ff14008" /><Relationship Type="http://schemas.openxmlformats.org/officeDocument/2006/relationships/notesMaster" Target="/ppt/notesMasters/notesMaster1.xml" Id="R0a12e2a552df4f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8f0d3e58d647f9" /><Relationship Type="http://schemas.openxmlformats.org/officeDocument/2006/relationships/notesMaster" Target="/ppt/notesMasters/notesMaster1.xml" Id="Rde574ef8c7bf43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ae6d3d0c114925" /><Relationship Type="http://schemas.openxmlformats.org/officeDocument/2006/relationships/notesMaster" Target="/ppt/notesMasters/notesMaster1.xml" Id="R1023b08f6d6740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0b1fab2cb1432a" /><Relationship Type="http://schemas.openxmlformats.org/officeDocument/2006/relationships/notesMaster" Target="/ppt/notesMasters/notesMaster1.xml" Id="Recc3d4df4b6842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40c6504caa481f" /><Relationship Type="http://schemas.openxmlformats.org/officeDocument/2006/relationships/notesMaster" Target="/ppt/notesMasters/notesMaster1.xml" Id="R3bbfba64b1db4b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60b75b08c84170" /><Relationship Type="http://schemas.openxmlformats.org/officeDocument/2006/relationships/notesMaster" Target="/ppt/notesMasters/notesMaster1.xml" Id="Ree20e583bfc549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770e57932e403c" /><Relationship Type="http://schemas.openxmlformats.org/officeDocument/2006/relationships/notesMaster" Target="/ppt/notesMasters/notesMaster1.xml" Id="R17a54ba9fd2940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d137c0c1264794" /><Relationship Type="http://schemas.openxmlformats.org/officeDocument/2006/relationships/notesMaster" Target="/ppt/notesMasters/notesMaster1.xml" Id="R20f677a4f96b41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fe601f4e9241c4" /><Relationship Type="http://schemas.openxmlformats.org/officeDocument/2006/relationships/notesMaster" Target="/ppt/notesMasters/notesMaster1.xml" Id="R4dbb09aaa7684d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서식은 사용자 과제의 입력 화면과 기존 검토항목 데이터를 기반으로 설계한 작성 양식입니다. KPC 공식 서식이 아닙니다. 자동 추출은 field. 이름의 네이티브 텍스트 상자를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연한 배경의 입력 상자 내용만 변경합니다. 원자료 파일명, 기준일과 단위를 값과 함께 적습니다. 참고: 기존 투자검토 워크스페이스 입력 정의. 상세 인풋은 KPC 공식 체크리스트가 아닌 과제용 실무 설계안입니다.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연한 배경의 입력 상자 내용만 변경합니다. 원자료 파일명, 기준일과 단위를 값과 함께 적습니다. 참고: 기존 투자검토 워크스페이스 입력 정의. 상세 인풋은 KPC 공식 체크리스트가 아닌 과제용 실무 설계안입니다.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연한 배경의 입력 상자 내용만 변경합니다. 원자료 파일명, 기준일과 단위를 값과 함께 적습니다. 참고: 기존 투자검토 워크스페이스 입력 정의. 상세 인풋은 KPC 공식 체크리스트가 아닌 과제용 실무 설계안입니다.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연한 배경의 입력 상자 내용만 변경합니다. 원자료 파일명, 기준일과 단위를 값과 함께 적습니다. 참고: 기존 투자검토 워크스페이스 입력 정의. 상세 인풋은 KPC 공식 체크리스트가 아닌 과제용 실무 설계안입니다.</a:t>
            </a:r>
          </a:p>
          <a:p xmlns:a="http://schemas.openxmlformats.org/drawingml/2006/main">
            <a:r>
              <a:t>검토 후 산출물: 시장·수요 및 판매계획서; 입지·기술·인프라 검토서; 신규사업 투자·자금·현금흐름 계획; 시나리오별 사업성 비교·권고안</a:t>
            </a:r>
          </a:p>
          <a:p xmlns:a="http://schemas.openxmlformats.org/drawingml/2006/main">
            <a:r>
              <a:t>확인 관점: 수요 근거와 공급 가능 생산량이 연결되는지 확인합니다. 신규 매출은 판매량·단가의 근거를 함께 제시합니다.</a:t>
            </a:r>
          </a:p>
          <a:p xmlns:a="http://schemas.openxmlformats.org/drawingml/2006/main">
            <a:r>
              <a:t>관련 업무영역 참고: https://kpc.or.kr/PTWED003_dtil_view.do?cono=149920&amp;ecno=47074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연한 배경의 입력 상자 내용만 변경합니다. 원자료 파일명, 기준일과 단위를 값과 함께 적습니다. 참고: 기존 투자검토 워크스페이스 입력 정의. 상세 인풋은 KPC 공식 체크리스트가 아닌 과제용 실무 설계안입니다.</a:t>
            </a:r>
          </a:p>
          <a:p xmlns:a="http://schemas.openxmlformats.org/drawingml/2006/main">
            <a:r>
              <a:t>검토 후 산출물: 추가 수요·생산능력 대응표; 병목·연계·유틸리티 검토서; 증분 현금흐름·증설 대안 비교표; 시공·전환 조건 및 심의 쟁점</a:t>
            </a:r>
          </a:p>
          <a:p xmlns:a="http://schemas.openxmlformats.org/drawingml/2006/main">
            <a:r>
              <a:t>확인 관점: 기존 사업 전체 성과와 이번 증설로 추가되는 효과를 구분합니다. 다른 공정으로 병목이 이동하는지도 확인합니다.</a:t>
            </a:r>
          </a:p>
          <a:p xmlns:a="http://schemas.openxmlformats.org/drawingml/2006/main">
            <a:r>
              <a:t>관련 업무영역 참고: https://kpc.or.kr/PTWED003_dtil_view.do?cono=149920&amp;ecno=47074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연한 배경의 입력 상자 내용만 변경합니다. 원자료 파일명, 기준일과 단위를 값과 함께 적습니다. 참고: 기존 투자검토 워크스페이스 입력 정의. 상세 인풋은 KPC 공식 체크리스트가 아닌 과제용 실무 설계안입니다.</a:t>
            </a:r>
          </a:p>
          <a:p xmlns:a="http://schemas.openxmlformats.org/drawingml/2006/main">
            <a:r>
              <a:t>검토 후 산출물: 계속 사용·수리·교체 비교표; 생애주기 비용·증분 효과 검토서; 철거·전환·복구 계획; 성능 인수 및 운영 안정화 조건</a:t>
            </a:r>
          </a:p>
          <a:p xmlns:a="http://schemas.openxmlformats.org/drawingml/2006/main">
            <a:r>
              <a:t>확인 관점: 과거 취득비와 앞으로 발생할 비용을 구분하고, 동일한 비교기간과 성능 조건으로 대안을 평가합니다.</a:t>
            </a:r>
          </a:p>
          <a:p xmlns:a="http://schemas.openxmlformats.org/drawingml/2006/main">
            <a:r>
              <a:t>관련 업무영역 참고: https://kpc.or.kr/PTWED003_dtil_view.do?cono=149920&amp;ecno=47074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연한 배경의 입력 상자 내용만 변경합니다. 원자료 파일명, 기준일과 단위를 값과 함께 적습니다. 참고: 기존 투자검토 워크스페이스 입력 정의. 상세 인풋은 KPC 공식 체크리스트가 아닌 과제용 실무 설계안입니다.</a:t>
            </a:r>
          </a:p>
          <a:p xmlns:a="http://schemas.openxmlformats.org/drawingml/2006/main">
            <a:r>
              <a:t>검토 후 산출물: 의무·현황·목표 대응표; 개선 대안별 효과·비용 비교; 잔여 위험·추가 대책 목록; 이행 일정·성능 검증·승인 조건</a:t>
            </a:r>
          </a:p>
          <a:p xmlns:a="http://schemas.openxmlformats.org/drawingml/2006/main">
            <a:r>
              <a:t>확인 관점: 수익성만으로 의무 이행 필요성을 판단하지 않습니다. 법적 적용 여부와 수치는 담당 전문가가 원문으로 확인합니다.</a:t>
            </a:r>
          </a:p>
          <a:p xmlns:a="http://schemas.openxmlformats.org/drawingml/2006/main">
            <a:r>
              <a:t>관련 업무영역 참고: https://kpc.or.kr/PTWED003_dtil_view.do?cono=149920&amp;ecno=47074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연한 배경의 입력 상자 내용만 변경합니다. 원자료 파일명, 기준일과 단위를 값과 함께 적습니다. 참고: 기존 투자검토 워크스페이스 입력 정의. 상세 인풋은 KPC 공식 체크리스트가 아닌 과제용 실무 설계안입니다.</a:t>
            </a:r>
          </a:p>
          <a:p xmlns:a="http://schemas.openxmlformats.org/drawingml/2006/main">
            <a:r>
              <a:t>검토 후 산출물: 정규화한 에너지 사용 기준선; 발전·절감량 산정 및 검증 계획; 연도별 편익·운영비·현금흐름표; 가격·발전량 변화 시나리오와 설치 조건</a:t>
            </a:r>
          </a:p>
          <a:p xmlns:a="http://schemas.openxmlformats.org/drawingml/2006/main">
            <a:r>
              <a:t>확인 관점: 자가소비 절감과 판매 수익의 중복 계상을 피하고, 계절·생산량·운전시간 변화 및 성능 저하를 명시합니다.</a:t>
            </a:r>
          </a:p>
          <a:p xmlns:a="http://schemas.openxmlformats.org/drawingml/2006/main">
            <a:r>
              <a:t>관련 업무영역 참고: https://kpc.or.kr/PTWED003_dtil_view.do?cono=149920&amp;ecno=47074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2a16ef91541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04b0e33de4c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905fa15f34f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bbacc92a64c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f79c1dfbca46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c13f9819349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C27084-B296-4BF4-99F6-FC0EED9B34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CAB8BE-A4D4-4C3A-A900-03A8DBD40F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CE71AF-775F-4C0D-8C5F-C862D11BA5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1A68C7-31DA-4797-9492-317A20756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BF6DBF-F076-4B77-B521-C332136014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EB7368-ADE9-4E9E-8D5C-5C6B099E2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B9DF72-22FC-4977-999D-D240546733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47B207-4D83-467D-A549-D9CEEC958B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3404F0-ACC6-4839-A714-C49C799A4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B0412F-4009-49FB-899E-1AC467E52F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46c2dfef954858" /><Relationship Type="http://schemas.openxmlformats.org/officeDocument/2006/relationships/slideLayout" Target="/ppt/slideLayouts/slideLayout1.xml" Id="Ra07275d9120945e9" /><Relationship Type="http://schemas.openxmlformats.org/officeDocument/2006/relationships/slideLayout" Target="/ppt/slideLayouts/slideLayout2.xml" Id="Rce2522f4aef742bf" /><Relationship Type="http://schemas.openxmlformats.org/officeDocument/2006/relationships/slideLayout" Target="/ppt/slideLayouts/slideLayout3.xml" Id="Ra094ace7a257476d" /><Relationship Type="http://schemas.openxmlformats.org/officeDocument/2006/relationships/slideLayout" Target="/ppt/slideLayouts/slideLayout4.xml" Id="R0b6863ef217b4784" /><Relationship Type="http://schemas.openxmlformats.org/officeDocument/2006/relationships/slideLayout" Target="/ppt/slideLayouts/slideLayout5.xml" Id="Rde6b9c32b9774f7c" /><Relationship Type="http://schemas.openxmlformats.org/officeDocument/2006/relationships/slideLayout" Target="/ppt/slideLayouts/slideLayout6.xml" Id="Red89c3a0df6041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7275d9120945e9"/>
    <p:sldLayoutId xmlns:r="http://schemas.openxmlformats.org/officeDocument/2006/relationships" id="2147483650" r:id="Rce2522f4aef742bf"/>
    <p:sldLayoutId xmlns:r="http://schemas.openxmlformats.org/officeDocument/2006/relationships" id="2147483651" r:id="Ra094ace7a257476d"/>
    <p:sldLayoutId xmlns:r="http://schemas.openxmlformats.org/officeDocument/2006/relationships" id="2147483652" r:id="R0b6863ef217b4784"/>
    <p:sldLayoutId xmlns:r="http://schemas.openxmlformats.org/officeDocument/2006/relationships" id="2147483653" r:id="Rde6b9c32b9774f7c"/>
    <p:sldLayoutId xmlns:r="http://schemas.openxmlformats.org/officeDocument/2006/relationships" id="2147483654" r:id="Red89c3a0df6041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b7cdcb2854313" /><Relationship Type="http://schemas.openxmlformats.org/officeDocument/2006/relationships/notesSlide" Target="/ppt/notesSlides/notesSlide1.xml" Id="R95e0f2a2634f45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53e9e2522b4542" /><Relationship Type="http://schemas.openxmlformats.org/officeDocument/2006/relationships/notesSlide" Target="/ppt/notesSlides/notesSlide2.xml" Id="R2390e2f05be946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fc441607ff4d77" /><Relationship Type="http://schemas.openxmlformats.org/officeDocument/2006/relationships/notesSlide" Target="/ppt/notesSlides/notesSlide3.xml" Id="R8505f3cd1b9340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61a7ef50c4832" /><Relationship Type="http://schemas.openxmlformats.org/officeDocument/2006/relationships/notesSlide" Target="/ppt/notesSlides/notesSlide4.xml" Id="Rbc13c4f1fc234d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1a2bd2c754457" /><Relationship Type="http://schemas.openxmlformats.org/officeDocument/2006/relationships/notesSlide" Target="/ppt/notesSlides/notesSlide5.xml" Id="R91ed8319b5994a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dd0b6ab6f43a7" /><Relationship Type="http://schemas.openxmlformats.org/officeDocument/2006/relationships/notesSlide" Target="/ppt/notesSlides/notesSlide6.xml" Id="R38438b72a9404d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bf44d6ec664f0f" /><Relationship Type="http://schemas.openxmlformats.org/officeDocument/2006/relationships/notesSlide" Target="/ppt/notesSlides/notesSlide7.xml" Id="Rdec0c169fcb340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5543d606d4b6d" /><Relationship Type="http://schemas.openxmlformats.org/officeDocument/2006/relationships/notesSlide" Target="/ppt/notesSlides/notesSlide8.xml" Id="Ra5f3c992f74d49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72ddb3f214b1f" /><Relationship Type="http://schemas.openxmlformats.org/officeDocument/2006/relationships/notesSlide" Target="/ppt/notesSlides/notesSlide9.xml" Id="Rbf37338310a84e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4B4EA2B-22FC-4D8F-BE2B-02312B22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rPr>
              <a:t>투자요청서 작성 안내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55E84B-CBA4-4921-AC6C-83019934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공통 정보와 해당 사업유형의 상세 정보를 작성합니다.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899F01B-3114-4127-B0C7-00961DA1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투자요청 표준서식 v1   /   1</a:t>
            </a:r>
          </a:p>
        </p:txBody>
      </p:sp>
      <p:sp>
        <p:nvSpPr>
          <p:cNvPr id="4" name="guide0">
            <a:extLst xmlns:a="http://schemas.openxmlformats.org/drawingml/2006/main">
              <a:ext uri="{FF2B5EF4-FFF2-40B4-BE49-F238E27FC236}">
                <a16:creationId xmlns:a16="http://schemas.microsoft.com/office/drawing/2014/main" id="{37DF2836-3F9F-461A-887E-9DDE2270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공통 작성: 2~4쪽. 유형별 작성: 신설 5쪽, 증설 6쪽, 교체 7쪽, 안전환경 8쪽, 에너지 9쪽.</a:t>
            </a:r>
          </a:p>
        </p:txBody>
      </p:sp>
      <p:sp>
        <p:nvSpPr>
          <p:cNvPr id="5" name="guide1">
            <a:extLst xmlns:a="http://schemas.openxmlformats.org/drawingml/2006/main">
              <a:ext uri="{FF2B5EF4-FFF2-40B4-BE49-F238E27FC236}">
                <a16:creationId xmlns:a16="http://schemas.microsoft.com/office/drawing/2014/main" id="{A75D6DA0-DEFB-47F0-B81A-CB00B20A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연한 배경의 &lt;입력&gt;만 바꾸세요. 입력 상자의 삭제·복제·그룹화는 피하세요.</a:t>
            </a:r>
          </a:p>
        </p:txBody>
      </p:sp>
      <p:sp>
        <p:nvSpPr>
          <p:cNvPr id="6" name="guide2">
            <a:extLst xmlns:a="http://schemas.openxmlformats.org/drawingml/2006/main">
              <a:ext uri="{FF2B5EF4-FFF2-40B4-BE49-F238E27FC236}">
                <a16:creationId xmlns:a16="http://schemas.microsoft.com/office/drawing/2014/main" id="{5B9770DA-05A1-4876-901A-7C0796FA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모르는 값은 빈칸 또는 &lt;입력&gt;으로 남기세요. 수치는 단위·기준일·자료 출처와 함께 씁니다.</a:t>
            </a:r>
          </a:p>
        </p:txBody>
      </p:sp>
      <p:sp>
        <p:nvSpPr>
          <p:cNvPr id="7" name="guide3">
            <a:extLst xmlns:a="http://schemas.openxmlformats.org/drawingml/2006/main">
              <a:ext uri="{FF2B5EF4-FFF2-40B4-BE49-F238E27FC236}">
                <a16:creationId xmlns:a16="http://schemas.microsoft.com/office/drawing/2014/main" id="{07CADB21-6FDE-4AB5-BB63-8D866FB5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95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PPTX로 저장한 뒤 웹페이지에서 업로드하세요. 추출 결과를 확인하고 선택 반영합니다.</a:t>
            </a:r>
          </a:p>
        </p:txBody>
      </p:sp>
      <p:sp>
        <p:nvSpPr>
          <p:cNvPr id="8" name="guide4">
            <a:extLst xmlns:a="http://schemas.openxmlformats.org/drawingml/2006/main">
              <a:ext uri="{FF2B5EF4-FFF2-40B4-BE49-F238E27FC236}">
                <a16:creationId xmlns:a16="http://schemas.microsoft.com/office/drawing/2014/main" id="{032C5804-73BA-452A-B8D9-345F5094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3872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참고자료 검색 결과는 해당 사업에 적용되는지 확인한 뒤 입력합니다. 원자료를 별도로 첨부하세요.</a:t>
            </a:r>
          </a:p>
        </p:txBody>
      </p:sp>
    </p:spTree>
    <p:extLst>
      <p:ext uri="{BB962C8B-B14F-4D97-AF65-F5344CB8AC3E}">
        <p14:creationId xmlns:p14="http://schemas.microsoft.com/office/powerpoint/2010/main" val="552192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2225567C-7EC0-4573-80D4-CFD641A5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rPr>
              <a:t>사업 기본정보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506E2D-8384-42C3-9B32-B9108125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모든 투자요청에 공통으로 작성합니다.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C2ECA25-2B43-4752-9C59-618612B3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투자요청 표준서식 v1   /   2</a:t>
            </a:r>
          </a:p>
        </p:txBody>
      </p:sp>
      <p:sp>
        <p:nvSpPr>
          <p:cNvPr id="4" name="label.name">
            <a:extLst xmlns:a="http://schemas.openxmlformats.org/drawingml/2006/main">
              <a:ext uri="{FF2B5EF4-FFF2-40B4-BE49-F238E27FC236}">
                <a16:creationId xmlns:a16="http://schemas.microsoft.com/office/drawing/2014/main" id="{8CE10BAC-EDE1-4906-A08A-A5803C1E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사업명</a:t>
            </a:r>
          </a:p>
        </p:txBody>
      </p:sp>
      <p:sp>
        <p:nvSpPr>
          <p:cNvPr id="5" name="hint.name">
            <a:extLst xmlns:a="http://schemas.openxmlformats.org/drawingml/2006/main">
              <a:ext uri="{FF2B5EF4-FFF2-40B4-BE49-F238E27FC236}">
                <a16:creationId xmlns:a16="http://schemas.microsoft.com/office/drawing/2014/main" id="{10AC94B3-A03F-4942-927D-166ADACE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정식 사업명</a:t>
            </a:r>
          </a:p>
        </p:txBody>
      </p:sp>
      <p:sp>
        <p:nvSpPr>
          <p:cNvPr id="6" name="field.name">
            <a:extLst xmlns:a="http://schemas.openxmlformats.org/drawingml/2006/main">
              <a:ext uri="{FF2B5EF4-FFF2-40B4-BE49-F238E27FC236}">
                <a16:creationId xmlns:a16="http://schemas.microsoft.com/office/drawing/2014/main" id="{6E3ED1EC-9D7A-4286-A1C5-1C755B7B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85925"/>
            <a:ext cx="769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7" name="label.type">
            <a:extLst xmlns:a="http://schemas.openxmlformats.org/drawingml/2006/main">
              <a:ext uri="{FF2B5EF4-FFF2-40B4-BE49-F238E27FC236}">
                <a16:creationId xmlns:a16="http://schemas.microsoft.com/office/drawing/2014/main" id="{EC9CE8E3-1F03-4C52-A3B7-128985C3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08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투자사업 유형</a:t>
            </a:r>
          </a:p>
        </p:txBody>
      </p:sp>
      <p:sp>
        <p:nvSpPr>
          <p:cNvPr id="8" name="hint.type">
            <a:extLst xmlns:a="http://schemas.openxmlformats.org/drawingml/2006/main">
              <a:ext uri="{FF2B5EF4-FFF2-40B4-BE49-F238E27FC236}">
                <a16:creationId xmlns:a16="http://schemas.microsoft.com/office/drawing/2014/main" id="{528ABAD5-AEEB-4165-A575-0FD2D443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52775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신설 / 증설 / 교체 / 안전환경 / 에너지 중 하나</a:t>
            </a:r>
          </a:p>
        </p:txBody>
      </p:sp>
      <p:sp>
        <p:nvSpPr>
          <p:cNvPr id="9" name="field.type">
            <a:extLst xmlns:a="http://schemas.openxmlformats.org/drawingml/2006/main">
              <a:ext uri="{FF2B5EF4-FFF2-40B4-BE49-F238E27FC236}">
                <a16:creationId xmlns:a16="http://schemas.microsoft.com/office/drawing/2014/main" id="{3C1469D4-9B38-4197-8CE6-3A16DA58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90825"/>
            <a:ext cx="769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0" name="label.purpose">
            <a:extLst xmlns:a="http://schemas.openxmlformats.org/drawingml/2006/main">
              <a:ext uri="{FF2B5EF4-FFF2-40B4-BE49-F238E27FC236}">
                <a16:creationId xmlns:a16="http://schemas.microsoft.com/office/drawing/2014/main" id="{F7017215-5E38-4423-82B9-6977BB44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957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투자 목적</a:t>
            </a:r>
          </a:p>
        </p:txBody>
      </p:sp>
      <p:sp>
        <p:nvSpPr>
          <p:cNvPr id="11" name="hint.purpose">
            <a:extLst xmlns:a="http://schemas.openxmlformats.org/drawingml/2006/main">
              <a:ext uri="{FF2B5EF4-FFF2-40B4-BE49-F238E27FC236}">
                <a16:creationId xmlns:a16="http://schemas.microsoft.com/office/drawing/2014/main" id="{14D2D895-27E2-4A66-9909-DA7F5B96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57675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현재 문제, 미추진 영향, 기대효과</a:t>
            </a:r>
          </a:p>
        </p:txBody>
      </p:sp>
      <p:sp>
        <p:nvSpPr>
          <p:cNvPr id="12" name="field.purpose">
            <a:extLst xmlns:a="http://schemas.openxmlformats.org/drawingml/2006/main">
              <a:ext uri="{FF2B5EF4-FFF2-40B4-BE49-F238E27FC236}">
                <a16:creationId xmlns:a16="http://schemas.microsoft.com/office/drawing/2014/main" id="{35205A5F-99EC-40DC-B6CD-9DF2EAD3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95725"/>
            <a:ext cx="769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3" name="label.location">
            <a:extLst xmlns:a="http://schemas.openxmlformats.org/drawingml/2006/main">
              <a:ext uri="{FF2B5EF4-FFF2-40B4-BE49-F238E27FC236}">
                <a16:creationId xmlns:a16="http://schemas.microsoft.com/office/drawing/2014/main" id="{569C9F88-34B1-4AC9-A8EC-F10FF870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사업장·지역</a:t>
            </a:r>
          </a:p>
        </p:txBody>
      </p:sp>
      <p:sp>
        <p:nvSpPr>
          <p:cNvPr id="14" name="hint.location">
            <a:extLst xmlns:a="http://schemas.openxmlformats.org/drawingml/2006/main">
              <a:ext uri="{FF2B5EF4-FFF2-40B4-BE49-F238E27FC236}">
                <a16:creationId xmlns:a16="http://schemas.microsoft.com/office/drawing/2014/main" id="{EACC5021-1486-4376-BE1A-FBEEB6C8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62575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사업장과 설치 위치</a:t>
            </a:r>
          </a:p>
        </p:txBody>
      </p:sp>
      <p:sp>
        <p:nvSpPr>
          <p:cNvPr id="15" name="field.location">
            <a:extLst xmlns:a="http://schemas.openxmlformats.org/drawingml/2006/main">
              <a:ext uri="{FF2B5EF4-FFF2-40B4-BE49-F238E27FC236}">
                <a16:creationId xmlns:a16="http://schemas.microsoft.com/office/drawing/2014/main" id="{B41A1F50-0448-4847-9D2D-8F64E67A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00625"/>
            <a:ext cx="769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</p:spTree>
    <p:extLst>
      <p:ext uri="{BB962C8B-B14F-4D97-AF65-F5344CB8AC3E}">
        <p14:creationId xmlns:p14="http://schemas.microsoft.com/office/powerpoint/2010/main" val="1057857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E0AA1027-7459-4B8A-B336-176B61D3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rPr>
              <a:t>투자 규모와 검토 일정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9F95CD-D5F5-4987-BD6B-588899C9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투자비 단위는 억원, 날짜 형식은 YYYY-MM-DD입니다.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6E154F71-21D9-4B4A-8242-863B2808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투자요청 표준서식 v1   /   3</a:t>
            </a:r>
          </a:p>
        </p:txBody>
      </p:sp>
      <p:sp>
        <p:nvSpPr>
          <p:cNvPr id="4" name="label.budget">
            <a:extLst xmlns:a="http://schemas.openxmlformats.org/drawingml/2006/main">
              <a:ext uri="{FF2B5EF4-FFF2-40B4-BE49-F238E27FC236}">
                <a16:creationId xmlns:a16="http://schemas.microsoft.com/office/drawing/2014/main" id="{05AC79CD-3116-435A-9BE5-AFED1EDA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예상 투자비 (억원)</a:t>
            </a:r>
          </a:p>
        </p:txBody>
      </p:sp>
      <p:sp>
        <p:nvSpPr>
          <p:cNvPr id="5" name="hint.budget">
            <a:extLst xmlns:a="http://schemas.openxmlformats.org/drawingml/2006/main">
              <a:ext uri="{FF2B5EF4-FFF2-40B4-BE49-F238E27FC236}">
                <a16:creationId xmlns:a16="http://schemas.microsoft.com/office/drawing/2014/main" id="{048C97DE-CB75-45BE-91C9-DD28BF33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억원 기준 숫자만, 미정이면 비워 두기</a:t>
            </a:r>
          </a:p>
        </p:txBody>
      </p:sp>
      <p:sp>
        <p:nvSpPr>
          <p:cNvPr id="6" name="field.budget">
            <a:extLst xmlns:a="http://schemas.openxmlformats.org/drawingml/2006/main">
              <a:ext uri="{FF2B5EF4-FFF2-40B4-BE49-F238E27FC236}">
                <a16:creationId xmlns:a16="http://schemas.microsoft.com/office/drawing/2014/main" id="{AF6704DA-10C6-465E-A33E-E51214E1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85925"/>
            <a:ext cx="769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7" name="label.scale">
            <a:extLst xmlns:a="http://schemas.openxmlformats.org/drawingml/2006/main">
              <a:ext uri="{FF2B5EF4-FFF2-40B4-BE49-F238E27FC236}">
                <a16:creationId xmlns:a16="http://schemas.microsoft.com/office/drawing/2014/main" id="{616CDA2C-ECD4-4670-8534-D0FA22BC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08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사업 규모·목표 성능</a:t>
            </a:r>
          </a:p>
        </p:txBody>
      </p:sp>
      <p:sp>
        <p:nvSpPr>
          <p:cNvPr id="8" name="hint.scale">
            <a:extLst xmlns:a="http://schemas.openxmlformats.org/drawingml/2006/main">
              <a:ext uri="{FF2B5EF4-FFF2-40B4-BE49-F238E27FC236}">
                <a16:creationId xmlns:a16="http://schemas.microsoft.com/office/drawing/2014/main" id="{71BF6228-5515-4ECE-B7CD-FE2C1F0D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52775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단위, 기준 시점, 목표 성능</a:t>
            </a:r>
          </a:p>
        </p:txBody>
      </p:sp>
      <p:sp>
        <p:nvSpPr>
          <p:cNvPr id="9" name="field.scale">
            <a:extLst xmlns:a="http://schemas.openxmlformats.org/drawingml/2006/main">
              <a:ext uri="{FF2B5EF4-FFF2-40B4-BE49-F238E27FC236}">
                <a16:creationId xmlns:a16="http://schemas.microsoft.com/office/drawing/2014/main" id="{7EC59DFD-9FF0-4A01-A7A1-24E072E5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90825"/>
            <a:ext cx="769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0" name="label.start">
            <a:extLst xmlns:a="http://schemas.openxmlformats.org/drawingml/2006/main">
              <a:ext uri="{FF2B5EF4-FFF2-40B4-BE49-F238E27FC236}">
                <a16:creationId xmlns:a16="http://schemas.microsoft.com/office/drawing/2014/main" id="{9FB17B56-C598-49FA-A09A-9E54CC13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957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검토 시작일</a:t>
            </a:r>
          </a:p>
        </p:txBody>
      </p:sp>
      <p:sp>
        <p:nvSpPr>
          <p:cNvPr id="11" name="hint.start">
            <a:extLst xmlns:a="http://schemas.openxmlformats.org/drawingml/2006/main">
              <a:ext uri="{FF2B5EF4-FFF2-40B4-BE49-F238E27FC236}">
                <a16:creationId xmlns:a16="http://schemas.microsoft.com/office/drawing/2014/main" id="{8BA7BFB9-52EA-4BDC-961F-BE04A6E5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57675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YYYY-MM-DD</a:t>
            </a:r>
          </a:p>
        </p:txBody>
      </p:sp>
      <p:sp>
        <p:nvSpPr>
          <p:cNvPr id="12" name="field.start">
            <a:extLst xmlns:a="http://schemas.openxmlformats.org/drawingml/2006/main">
              <a:ext uri="{FF2B5EF4-FFF2-40B4-BE49-F238E27FC236}">
                <a16:creationId xmlns:a16="http://schemas.microsoft.com/office/drawing/2014/main" id="{14EB7211-03BD-4F72-BF4A-BD247D45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95725"/>
            <a:ext cx="769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3" name="label.target">
            <a:extLst xmlns:a="http://schemas.openxmlformats.org/drawingml/2006/main">
              <a:ext uri="{FF2B5EF4-FFF2-40B4-BE49-F238E27FC236}">
                <a16:creationId xmlns:a16="http://schemas.microsoft.com/office/drawing/2014/main" id="{BF3CDF0A-1F43-4EC3-8AB0-D50C0124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목표 심의일</a:t>
            </a:r>
          </a:p>
        </p:txBody>
      </p:sp>
      <p:sp>
        <p:nvSpPr>
          <p:cNvPr id="14" name="hint.target">
            <a:extLst xmlns:a="http://schemas.openxmlformats.org/drawingml/2006/main">
              <a:ext uri="{FF2B5EF4-FFF2-40B4-BE49-F238E27FC236}">
                <a16:creationId xmlns:a16="http://schemas.microsoft.com/office/drawing/2014/main" id="{93E6557D-E8DF-494A-852D-DA486FFD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62575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YYYY-MM-DD</a:t>
            </a:r>
          </a:p>
        </p:txBody>
      </p:sp>
      <p:sp>
        <p:nvSpPr>
          <p:cNvPr id="15" name="field.target">
            <a:extLst xmlns:a="http://schemas.openxmlformats.org/drawingml/2006/main">
              <a:ext uri="{FF2B5EF4-FFF2-40B4-BE49-F238E27FC236}">
                <a16:creationId xmlns:a16="http://schemas.microsoft.com/office/drawing/2014/main" id="{FCBA2E34-7D0B-4852-89E8-90061D39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00625"/>
            <a:ext cx="769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</p:spTree>
    <p:extLst>
      <p:ext uri="{BB962C8B-B14F-4D97-AF65-F5344CB8AC3E}">
        <p14:creationId xmlns:p14="http://schemas.microsoft.com/office/powerpoint/2010/main" val="1626234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E641A0F8-E313-423F-ABE9-57FEA161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rPr>
              <a:t>현장 조건과 확보 자료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A39B1F-56FD-432C-9D95-6594A135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해당 명칭을 쉼표로 구분합니다. 해당사항이 없으면 '없음'으로 작성합니다.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38585B9-6196-4033-A147-99DFD781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투자요청 표준서식 v1   /   4</a:t>
            </a:r>
          </a:p>
        </p:txBody>
      </p:sp>
      <p:sp>
        <p:nvSpPr>
          <p:cNvPr id="4" name="label.conditions">
            <a:extLst xmlns:a="http://schemas.openxmlformats.org/drawingml/2006/main">
              <a:ext uri="{FF2B5EF4-FFF2-40B4-BE49-F238E27FC236}">
                <a16:creationId xmlns:a16="http://schemas.microsoft.com/office/drawing/2014/main" id="{0D26739B-FFA4-4BC8-A781-F9EC92BD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현장·운영 조건</a:t>
            </a:r>
          </a:p>
        </p:txBody>
      </p:sp>
      <p:sp>
        <p:nvSpPr>
          <p:cNvPr id="5" name="hint.conditions">
            <a:extLst xmlns:a="http://schemas.openxmlformats.org/drawingml/2006/main">
              <a:ext uri="{FF2B5EF4-FFF2-40B4-BE49-F238E27FC236}">
                <a16:creationId xmlns:a16="http://schemas.microsoft.com/office/drawing/2014/main" id="{9FEC3C49-E246-4E33-B7B2-AD01824B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3143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가동 중 공사·조업중단 제약</a:t>
            </a:r>
          </a:p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건축·구조물 변경</a:t>
            </a:r>
          </a:p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전력·용수 등 유틸리티 변경</a:t>
            </a:r>
          </a:p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외부기관 협의·인허가 가능성</a:t>
            </a:r>
          </a:p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신규 기술·검증 이력 부족</a:t>
            </a:r>
          </a:p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기존 건물 지붕 설치</a:t>
            </a:r>
          </a:p>
        </p:txBody>
      </p:sp>
      <p:sp>
        <p:nvSpPr>
          <p:cNvPr id="6" name="field.conditions">
            <a:extLst xmlns:a="http://schemas.openxmlformats.org/drawingml/2006/main">
              <a:ext uri="{FF2B5EF4-FFF2-40B4-BE49-F238E27FC236}">
                <a16:creationId xmlns:a16="http://schemas.microsoft.com/office/drawing/2014/main" id="{5CF1BD9C-0B06-41FB-87E3-99B1467A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85925"/>
            <a:ext cx="7696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7" name="label.docs">
            <a:extLst xmlns:a="http://schemas.openxmlformats.org/drawingml/2006/main">
              <a:ext uri="{FF2B5EF4-FFF2-40B4-BE49-F238E27FC236}">
                <a16:creationId xmlns:a16="http://schemas.microsoft.com/office/drawing/2014/main" id="{D55FA08A-AB8A-41F5-B41A-86EA027B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확보한 자료</a:t>
            </a:r>
          </a:p>
        </p:txBody>
      </p:sp>
      <p:sp>
        <p:nvSpPr>
          <p:cNvPr id="8" name="hint.docs">
            <a:extLst xmlns:a="http://schemas.openxmlformats.org/drawingml/2006/main">
              <a:ext uri="{FF2B5EF4-FFF2-40B4-BE49-F238E27FC236}">
                <a16:creationId xmlns:a16="http://schemas.microsoft.com/office/drawing/2014/main" id="{C10DF2B8-9C1C-403A-84C7-2D707D34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4825"/>
            <a:ext cx="3143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사업 제안서, 도면·배치도,</a:t>
            </a:r>
          </a:p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견적서, 운영 실적,</a:t>
            </a:r>
          </a:p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설비 사양서, 사전협의 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보유 여부이며 적정성 검증은 별도</a:t>
            </a:r>
          </a:p>
        </p:txBody>
      </p:sp>
      <p:sp>
        <p:nvSpPr>
          <p:cNvPr id="9" name="field.docs">
            <a:extLst xmlns:a="http://schemas.openxmlformats.org/drawingml/2006/main">
              <a:ext uri="{FF2B5EF4-FFF2-40B4-BE49-F238E27FC236}">
                <a16:creationId xmlns:a16="http://schemas.microsoft.com/office/drawing/2014/main" id="{BF2ECC8C-D749-4226-AACA-0DA223FA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52875"/>
            <a:ext cx="7696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</p:spTree>
    <p:extLst>
      <p:ext uri="{BB962C8B-B14F-4D97-AF65-F5344CB8AC3E}">
        <p14:creationId xmlns:p14="http://schemas.microsoft.com/office/powerpoint/2010/main" val="62297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06698674-3782-453C-A056-92619B88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rPr>
              <a:t>신설 사업 상세 정보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0A310B-8D3D-458D-B956-FF172B56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수요의 실현 가능성과 신규 생산체계의 구축 가능성 / 해당 유형만 작성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AEDEB44-1953-4CE2-B558-406AA691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투자요청 표준서식 v1   /   5</a:t>
            </a:r>
          </a:p>
        </p:txBody>
      </p:sp>
      <p:sp>
        <p:nvSpPr>
          <p:cNvPr id="4" name="label.신설.demand">
            <a:extLst xmlns:a="http://schemas.openxmlformats.org/drawingml/2006/main">
              <a:ext uri="{FF2B5EF4-FFF2-40B4-BE49-F238E27FC236}">
                <a16:creationId xmlns:a16="http://schemas.microsoft.com/office/drawing/2014/main" id="{84B805CF-0FC6-4021-9D78-387AEC10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목표 고객·시장·연간 수요</a:t>
            </a:r>
          </a:p>
        </p:txBody>
      </p:sp>
      <p:sp>
        <p:nvSpPr>
          <p:cNvPr id="5" name="hint.신설.demand">
            <a:extLst xmlns:a="http://schemas.openxmlformats.org/drawingml/2006/main">
              <a:ext uri="{FF2B5EF4-FFF2-40B4-BE49-F238E27FC236}">
                <a16:creationId xmlns:a16="http://schemas.microsoft.com/office/drawing/2014/main" id="{72086CA4-F08E-4001-9EA3-72FF80AA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목표 고객, 연간 수요(톤/개), 조사 시점과 근거</a:t>
            </a:r>
          </a:p>
        </p:txBody>
      </p:sp>
      <p:sp>
        <p:nvSpPr>
          <p:cNvPr id="6" name="field.신설.demand">
            <a:extLst xmlns:a="http://schemas.openxmlformats.org/drawingml/2006/main">
              <a:ext uri="{FF2B5EF4-FFF2-40B4-BE49-F238E27FC236}">
                <a16:creationId xmlns:a16="http://schemas.microsoft.com/office/drawing/2014/main" id="{ED580AD0-13FE-41A5-8F60-89B445BE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859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7" name="label.신설.sales">
            <a:extLst xmlns:a="http://schemas.openxmlformats.org/drawingml/2006/main">
              <a:ext uri="{FF2B5EF4-FFF2-40B4-BE49-F238E27FC236}">
                <a16:creationId xmlns:a16="http://schemas.microsoft.com/office/drawing/2014/main" id="{86118666-757D-49E9-ADFD-75337D1E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판매·매출 가정</a:t>
            </a:r>
          </a:p>
        </p:txBody>
      </p:sp>
      <p:sp>
        <p:nvSpPr>
          <p:cNvPr id="8" name="hint.신설.sales">
            <a:extLst xmlns:a="http://schemas.openxmlformats.org/drawingml/2006/main">
              <a:ext uri="{FF2B5EF4-FFF2-40B4-BE49-F238E27FC236}">
                <a16:creationId xmlns:a16="http://schemas.microsoft.com/office/drawing/2014/main" id="{399573FB-7A69-4F60-B6FA-C16465EE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판매량, 단가(원/단위), 점유율, 판매 개시 시점</a:t>
            </a:r>
          </a:p>
        </p:txBody>
      </p:sp>
      <p:sp>
        <p:nvSpPr>
          <p:cNvPr id="9" name="field.신설.sales">
            <a:extLst xmlns:a="http://schemas.openxmlformats.org/drawingml/2006/main">
              <a:ext uri="{FF2B5EF4-FFF2-40B4-BE49-F238E27FC236}">
                <a16:creationId xmlns:a16="http://schemas.microsoft.com/office/drawing/2014/main" id="{D35896F4-3A84-4ABF-886F-CF9A0671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0" name="label.신설.capacity">
            <a:extLst xmlns:a="http://schemas.openxmlformats.org/drawingml/2006/main">
              <a:ext uri="{FF2B5EF4-FFF2-40B4-BE49-F238E27FC236}">
                <a16:creationId xmlns:a16="http://schemas.microsoft.com/office/drawing/2014/main" id="{6CCA252A-913E-44B0-B16E-FF1039C9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신규 생산·기술 조건</a:t>
            </a:r>
          </a:p>
        </p:txBody>
      </p:sp>
      <p:sp>
        <p:nvSpPr>
          <p:cNvPr id="11" name="hint.신설.capacity">
            <a:extLst xmlns:a="http://schemas.openxmlformats.org/drawingml/2006/main">
              <a:ext uri="{FF2B5EF4-FFF2-40B4-BE49-F238E27FC236}">
                <a16:creationId xmlns:a16="http://schemas.microsoft.com/office/drawing/2014/main" id="{28BF26E8-DD47-4C26-A0A2-78E0B76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설계 생산능력, 수율, 가동시간, 기술 검증 이력</a:t>
            </a:r>
          </a:p>
        </p:txBody>
      </p:sp>
      <p:sp>
        <p:nvSpPr>
          <p:cNvPr id="12" name="field.신설.capacity">
            <a:extLst xmlns:a="http://schemas.openxmlformats.org/drawingml/2006/main">
              <a:ext uri="{FF2B5EF4-FFF2-40B4-BE49-F238E27FC236}">
                <a16:creationId xmlns:a16="http://schemas.microsoft.com/office/drawing/2014/main" id="{3983AFA9-222F-4AE1-A430-5E1A20A3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766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3" name="label.신설.site">
            <a:extLst xmlns:a="http://schemas.openxmlformats.org/drawingml/2006/main">
              <a:ext uri="{FF2B5EF4-FFF2-40B4-BE49-F238E27FC236}">
                <a16:creationId xmlns:a16="http://schemas.microsoft.com/office/drawing/2014/main" id="{D4EDFE63-9D58-434D-BAC8-90F33F78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입지·인프라·인허가 조건</a:t>
            </a:r>
          </a:p>
        </p:txBody>
      </p:sp>
      <p:sp>
        <p:nvSpPr>
          <p:cNvPr id="14" name="hint.신설.site">
            <a:extLst xmlns:a="http://schemas.openxmlformats.org/drawingml/2006/main">
              <a:ext uri="{FF2B5EF4-FFF2-40B4-BE49-F238E27FC236}">
                <a16:creationId xmlns:a16="http://schemas.microsoft.com/office/drawing/2014/main" id="{43B079CC-A4F5-4EC0-97C0-F85F2D76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339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후보 부지, 전력·용수 수요, 관할 협의 현황</a:t>
            </a:r>
          </a:p>
        </p:txBody>
      </p:sp>
      <p:sp>
        <p:nvSpPr>
          <p:cNvPr id="15" name="field.신설.site">
            <a:extLst xmlns:a="http://schemas.openxmlformats.org/drawingml/2006/main">
              <a:ext uri="{FF2B5EF4-FFF2-40B4-BE49-F238E27FC236}">
                <a16:creationId xmlns:a16="http://schemas.microsoft.com/office/drawing/2014/main" id="{1F3EEC58-66C6-4E8E-80EA-6B62D14E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7197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6" name="label.신설.funding">
            <a:extLst xmlns:a="http://schemas.openxmlformats.org/drawingml/2006/main">
              <a:ext uri="{FF2B5EF4-FFF2-40B4-BE49-F238E27FC236}">
                <a16:creationId xmlns:a16="http://schemas.microsoft.com/office/drawing/2014/main" id="{7B4817DC-D61F-44C3-8A09-77D94108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투자·운영비·자금 계획</a:t>
            </a:r>
          </a:p>
        </p:txBody>
      </p:sp>
      <p:sp>
        <p:nvSpPr>
          <p:cNvPr id="17" name="hint.신설.funding">
            <a:extLst xmlns:a="http://schemas.openxmlformats.org/drawingml/2006/main">
              <a:ext uri="{FF2B5EF4-FFF2-40B4-BE49-F238E27FC236}">
                <a16:creationId xmlns:a16="http://schemas.microsoft.com/office/drawing/2014/main" id="{6F341E54-743D-48D6-9072-9D07E39E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자산별 견적, 연간 운영비, 자금조달 방식</a:t>
            </a:r>
          </a:p>
        </p:txBody>
      </p:sp>
      <p:sp>
        <p:nvSpPr>
          <p:cNvPr id="18" name="field.신설.funding">
            <a:extLst xmlns:a="http://schemas.openxmlformats.org/drawingml/2006/main">
              <a:ext uri="{FF2B5EF4-FFF2-40B4-BE49-F238E27FC236}">
                <a16:creationId xmlns:a16="http://schemas.microsoft.com/office/drawing/2014/main" id="{F9A88567-11AA-43A2-89D8-78F56511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673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</p:spTree>
    <p:extLst>
      <p:ext uri="{BB962C8B-B14F-4D97-AF65-F5344CB8AC3E}">
        <p14:creationId xmlns:p14="http://schemas.microsoft.com/office/powerpoint/2010/main" val="2141245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C45CCABD-0FD6-4F55-9E31-6BAD8DF8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rPr>
              <a:t>증설 사업 상세 정보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13CB52-0E65-4A3E-AFDF-43A47FE8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추가 수요와 실제 병목 해소 효과의 검증 / 해당 유형만 작성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76D9B13-AF8F-4177-9568-2FFE39D2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투자요청 표준서식 v1   /   6</a:t>
            </a:r>
          </a:p>
        </p:txBody>
      </p:sp>
      <p:sp>
        <p:nvSpPr>
          <p:cNvPr id="4" name="label.증설.demand">
            <a:extLst xmlns:a="http://schemas.openxmlformats.org/drawingml/2006/main">
              <a:ext uri="{FF2B5EF4-FFF2-40B4-BE49-F238E27FC236}">
                <a16:creationId xmlns:a16="http://schemas.microsoft.com/office/drawing/2014/main" id="{6DE21C1C-6821-42B8-B5FD-F78AF675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추가 수요·미충족 주문</a:t>
            </a:r>
          </a:p>
        </p:txBody>
      </p:sp>
      <p:sp>
        <p:nvSpPr>
          <p:cNvPr id="5" name="hint.증설.demand">
            <a:extLst xmlns:a="http://schemas.openxmlformats.org/drawingml/2006/main">
              <a:ext uri="{FF2B5EF4-FFF2-40B4-BE49-F238E27FC236}">
                <a16:creationId xmlns:a16="http://schemas.microsoft.com/office/drawing/2014/main" id="{0A5EFD88-61FB-4139-B7AC-C3B53AEB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연간 추가 주문량, 수요 전망, 고객 근거</a:t>
            </a:r>
          </a:p>
        </p:txBody>
      </p:sp>
      <p:sp>
        <p:nvSpPr>
          <p:cNvPr id="6" name="field.증설.demand">
            <a:extLst xmlns:a="http://schemas.openxmlformats.org/drawingml/2006/main">
              <a:ext uri="{FF2B5EF4-FFF2-40B4-BE49-F238E27FC236}">
                <a16:creationId xmlns:a16="http://schemas.microsoft.com/office/drawing/2014/main" id="{A4503456-F239-436B-B949-92E767A7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859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7" name="label.증설.capacity">
            <a:extLst xmlns:a="http://schemas.openxmlformats.org/drawingml/2006/main">
              <a:ext uri="{FF2B5EF4-FFF2-40B4-BE49-F238E27FC236}">
                <a16:creationId xmlns:a16="http://schemas.microsoft.com/office/drawing/2014/main" id="{BFC6A4DB-663E-44BD-AD5B-7E75B4DD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현재·증설 후 생산능력</a:t>
            </a:r>
          </a:p>
        </p:txBody>
      </p:sp>
      <p:sp>
        <p:nvSpPr>
          <p:cNvPr id="8" name="hint.증설.capacity">
            <a:extLst xmlns:a="http://schemas.openxmlformats.org/drawingml/2006/main">
              <a:ext uri="{FF2B5EF4-FFF2-40B4-BE49-F238E27FC236}">
                <a16:creationId xmlns:a16="http://schemas.microsoft.com/office/drawing/2014/main" id="{F5FFDF67-0807-4436-867B-712A651A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공정별 능력(톤/시간), 가동률(%), 수율(%)</a:t>
            </a:r>
          </a:p>
        </p:txBody>
      </p:sp>
      <p:sp>
        <p:nvSpPr>
          <p:cNvPr id="9" name="field.증설.capacity">
            <a:extLst xmlns:a="http://schemas.openxmlformats.org/drawingml/2006/main">
              <a:ext uri="{FF2B5EF4-FFF2-40B4-BE49-F238E27FC236}">
                <a16:creationId xmlns:a16="http://schemas.microsoft.com/office/drawing/2014/main" id="{DF7E639B-4786-4010-82A5-04F677DC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0" name="label.증설.bottleneck">
            <a:extLst xmlns:a="http://schemas.openxmlformats.org/drawingml/2006/main">
              <a:ext uri="{FF2B5EF4-FFF2-40B4-BE49-F238E27FC236}">
                <a16:creationId xmlns:a16="http://schemas.microsoft.com/office/drawing/2014/main" id="{A3780EA2-DD68-455D-9AD5-B5FBAD4B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병목·유틸리티 여력</a:t>
            </a:r>
          </a:p>
        </p:txBody>
      </p:sp>
      <p:sp>
        <p:nvSpPr>
          <p:cNvPr id="11" name="hint.증설.bottleneck">
            <a:extLst xmlns:a="http://schemas.openxmlformats.org/drawingml/2006/main">
              <a:ext uri="{FF2B5EF4-FFF2-40B4-BE49-F238E27FC236}">
                <a16:creationId xmlns:a16="http://schemas.microsoft.com/office/drawing/2014/main" id="{6330D28A-6DDD-43FB-BF9C-0210E48D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병목 공정, 전력·용수 가용량과 추가 수요</a:t>
            </a:r>
          </a:p>
        </p:txBody>
      </p:sp>
      <p:sp>
        <p:nvSpPr>
          <p:cNvPr id="12" name="field.증설.bottleneck">
            <a:extLst xmlns:a="http://schemas.openxmlformats.org/drawingml/2006/main">
              <a:ext uri="{FF2B5EF4-FFF2-40B4-BE49-F238E27FC236}">
                <a16:creationId xmlns:a16="http://schemas.microsoft.com/office/drawing/2014/main" id="{89435165-DD21-4F62-80EF-A1C98750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766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3" name="label.증설.shutdown">
            <a:extLst xmlns:a="http://schemas.openxmlformats.org/drawingml/2006/main">
              <a:ext uri="{FF2B5EF4-FFF2-40B4-BE49-F238E27FC236}">
                <a16:creationId xmlns:a16="http://schemas.microsoft.com/office/drawing/2014/main" id="{412379F4-83A9-4E5C-B3D2-B75F0554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시공·조업중단 조건</a:t>
            </a:r>
          </a:p>
        </p:txBody>
      </p:sp>
      <p:sp>
        <p:nvSpPr>
          <p:cNvPr id="14" name="hint.증설.shutdown">
            <a:extLst xmlns:a="http://schemas.openxmlformats.org/drawingml/2006/main">
              <a:ext uri="{FF2B5EF4-FFF2-40B4-BE49-F238E27FC236}">
                <a16:creationId xmlns:a16="http://schemas.microsoft.com/office/drawing/2014/main" id="{EB68EEB2-400F-4F0B-99F4-03D4E4E5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339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공사 가능 기간, 정지 허용시간, 생산 손실</a:t>
            </a:r>
          </a:p>
        </p:txBody>
      </p:sp>
      <p:sp>
        <p:nvSpPr>
          <p:cNvPr id="15" name="field.증설.shutdown">
            <a:extLst xmlns:a="http://schemas.openxmlformats.org/drawingml/2006/main">
              <a:ext uri="{FF2B5EF4-FFF2-40B4-BE49-F238E27FC236}">
                <a16:creationId xmlns:a16="http://schemas.microsoft.com/office/drawing/2014/main" id="{31E3ADDD-C5BB-4211-B074-BCEF56EF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7197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6" name="label.증설.increment">
            <a:extLst xmlns:a="http://schemas.openxmlformats.org/drawingml/2006/main">
              <a:ext uri="{FF2B5EF4-FFF2-40B4-BE49-F238E27FC236}">
                <a16:creationId xmlns:a16="http://schemas.microsoft.com/office/drawing/2014/main" id="{57686AE6-A3BD-4703-B14C-3AC7C292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증분 투자·운영 효과</a:t>
            </a:r>
          </a:p>
        </p:txBody>
      </p:sp>
      <p:sp>
        <p:nvSpPr>
          <p:cNvPr id="17" name="hint.증설.increment">
            <a:extLst xmlns:a="http://schemas.openxmlformats.org/drawingml/2006/main">
              <a:ext uri="{FF2B5EF4-FFF2-40B4-BE49-F238E27FC236}">
                <a16:creationId xmlns:a16="http://schemas.microsoft.com/office/drawing/2014/main" id="{DDF9F85B-C68D-420D-A8C4-A9D039ED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추가 투자비, 추가 판매량·원가, 기존 매출 잠식</a:t>
            </a:r>
          </a:p>
        </p:txBody>
      </p:sp>
      <p:sp>
        <p:nvSpPr>
          <p:cNvPr id="18" name="field.증설.increment">
            <a:extLst xmlns:a="http://schemas.openxmlformats.org/drawingml/2006/main">
              <a:ext uri="{FF2B5EF4-FFF2-40B4-BE49-F238E27FC236}">
                <a16:creationId xmlns:a16="http://schemas.microsoft.com/office/drawing/2014/main" id="{0DEC0F50-33AA-4F17-82E7-5F59207B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673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</p:spTree>
    <p:extLst>
      <p:ext uri="{BB962C8B-B14F-4D97-AF65-F5344CB8AC3E}">
        <p14:creationId xmlns:p14="http://schemas.microsoft.com/office/powerpoint/2010/main" val="1884801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2C0670BE-6B36-416C-B909-082B34B0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rPr>
              <a:t>교체 사업 상세 정보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02F598-D76A-4042-8FDB-C1ED9046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계속 사용·수리·교체 대안의 비용과 운영 연속성 / 해당 유형만 작성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6D5C643-566A-42D3-A21E-55023742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투자요청 표준서식 v1   /   7</a:t>
            </a:r>
          </a:p>
        </p:txBody>
      </p:sp>
      <p:sp>
        <p:nvSpPr>
          <p:cNvPr id="4" name="label.교체.condition">
            <a:extLst xmlns:a="http://schemas.openxmlformats.org/drawingml/2006/main">
              <a:ext uri="{FF2B5EF4-FFF2-40B4-BE49-F238E27FC236}">
                <a16:creationId xmlns:a16="http://schemas.microsoft.com/office/drawing/2014/main" id="{84B2666C-F10D-4D6B-86D5-C772E4F0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노후·고장·정비 이력</a:t>
            </a:r>
          </a:p>
        </p:txBody>
      </p:sp>
      <p:sp>
        <p:nvSpPr>
          <p:cNvPr id="5" name="hint.교체.condition">
            <a:extLst xmlns:a="http://schemas.openxmlformats.org/drawingml/2006/main">
              <a:ext uri="{FF2B5EF4-FFF2-40B4-BE49-F238E27FC236}">
                <a16:creationId xmlns:a16="http://schemas.microsoft.com/office/drawing/2014/main" id="{224E7121-A686-4DB0-8BE0-C7B86F58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사용연수, 고장 빈도, 정비비(원/년), 정지시간</a:t>
            </a:r>
          </a:p>
        </p:txBody>
      </p:sp>
      <p:sp>
        <p:nvSpPr>
          <p:cNvPr id="6" name="field.교체.condition">
            <a:extLst xmlns:a="http://schemas.openxmlformats.org/drawingml/2006/main">
              <a:ext uri="{FF2B5EF4-FFF2-40B4-BE49-F238E27FC236}">
                <a16:creationId xmlns:a16="http://schemas.microsoft.com/office/drawing/2014/main" id="{D6FDE059-CD28-4AB6-8EA4-7D488EA8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859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7" name="label.교체.alternatives">
            <a:extLst xmlns:a="http://schemas.openxmlformats.org/drawingml/2006/main">
              <a:ext uri="{FF2B5EF4-FFF2-40B4-BE49-F238E27FC236}">
                <a16:creationId xmlns:a16="http://schemas.microsoft.com/office/drawing/2014/main" id="{EE5CB85B-48BA-48F0-BFC3-462506C3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수리·부분교체·전면교체 대안</a:t>
            </a:r>
          </a:p>
        </p:txBody>
      </p:sp>
      <p:sp>
        <p:nvSpPr>
          <p:cNvPr id="8" name="hint.교체.alternatives">
            <a:extLst xmlns:a="http://schemas.openxmlformats.org/drawingml/2006/main">
              <a:ext uri="{FF2B5EF4-FFF2-40B4-BE49-F238E27FC236}">
                <a16:creationId xmlns:a16="http://schemas.microsoft.com/office/drawing/2014/main" id="{CD642EEA-793A-4CE4-B4CB-44D2C78E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대안별 견적, 기대수명, 성능 및 공급 지원</a:t>
            </a:r>
          </a:p>
        </p:txBody>
      </p:sp>
      <p:sp>
        <p:nvSpPr>
          <p:cNvPr id="9" name="field.교체.alternatives">
            <a:extLst xmlns:a="http://schemas.openxmlformats.org/drawingml/2006/main">
              <a:ext uri="{FF2B5EF4-FFF2-40B4-BE49-F238E27FC236}">
                <a16:creationId xmlns:a16="http://schemas.microsoft.com/office/drawing/2014/main" id="{FEE7B9E3-B154-4B22-B335-36F59C2F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0" name="label.교체.disposal">
            <a:extLst xmlns:a="http://schemas.openxmlformats.org/drawingml/2006/main">
              <a:ext uri="{FF2B5EF4-FFF2-40B4-BE49-F238E27FC236}">
                <a16:creationId xmlns:a16="http://schemas.microsoft.com/office/drawing/2014/main" id="{0DCB57BF-268F-4699-B106-D7FA0386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철거·처분·잔존가치</a:t>
            </a:r>
          </a:p>
        </p:txBody>
      </p:sp>
      <p:sp>
        <p:nvSpPr>
          <p:cNvPr id="11" name="hint.교체.disposal">
            <a:extLst xmlns:a="http://schemas.openxmlformats.org/drawingml/2006/main">
              <a:ext uri="{FF2B5EF4-FFF2-40B4-BE49-F238E27FC236}">
                <a16:creationId xmlns:a16="http://schemas.microsoft.com/office/drawing/2014/main" id="{75658F71-5E7F-47BA-93B0-EDF00A05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철거비, 폐기비, 매각금액, 관련 근거</a:t>
            </a:r>
          </a:p>
        </p:txBody>
      </p:sp>
      <p:sp>
        <p:nvSpPr>
          <p:cNvPr id="12" name="field.교체.disposal">
            <a:extLst xmlns:a="http://schemas.openxmlformats.org/drawingml/2006/main">
              <a:ext uri="{FF2B5EF4-FFF2-40B4-BE49-F238E27FC236}">
                <a16:creationId xmlns:a16="http://schemas.microsoft.com/office/drawing/2014/main" id="{69B172FE-6B69-423F-8D9F-40295676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766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3" name="label.교체.shutdown">
            <a:extLst xmlns:a="http://schemas.openxmlformats.org/drawingml/2006/main">
              <a:ext uri="{FF2B5EF4-FFF2-40B4-BE49-F238E27FC236}">
                <a16:creationId xmlns:a16="http://schemas.microsoft.com/office/drawing/2014/main" id="{3D29E220-9716-4AD9-9CF1-5E81A9B3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전환·복구 조건</a:t>
            </a:r>
          </a:p>
        </p:txBody>
      </p:sp>
      <p:sp>
        <p:nvSpPr>
          <p:cNvPr id="14" name="hint.교체.shutdown">
            <a:extLst xmlns:a="http://schemas.openxmlformats.org/drawingml/2006/main">
              <a:ext uri="{FF2B5EF4-FFF2-40B4-BE49-F238E27FC236}">
                <a16:creationId xmlns:a16="http://schemas.microsoft.com/office/drawing/2014/main" id="{191FC819-F419-4FCB-A9D2-AA2B9B3C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339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정지 가능 기간, 임시 생산, 실패 시 복구안</a:t>
            </a:r>
          </a:p>
        </p:txBody>
      </p:sp>
      <p:sp>
        <p:nvSpPr>
          <p:cNvPr id="15" name="field.교체.shutdown">
            <a:extLst xmlns:a="http://schemas.openxmlformats.org/drawingml/2006/main">
              <a:ext uri="{FF2B5EF4-FFF2-40B4-BE49-F238E27FC236}">
                <a16:creationId xmlns:a16="http://schemas.microsoft.com/office/drawing/2014/main" id="{D006E2FD-9423-41CD-A4B4-90DDB13D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7197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6" name="label.교체.savings">
            <a:extLst xmlns:a="http://schemas.openxmlformats.org/drawingml/2006/main">
              <a:ext uri="{FF2B5EF4-FFF2-40B4-BE49-F238E27FC236}">
                <a16:creationId xmlns:a16="http://schemas.microsoft.com/office/drawing/2014/main" id="{7FEBED76-963D-4BE3-979D-95920EFD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교체 전후 운영비·효과</a:t>
            </a:r>
          </a:p>
        </p:txBody>
      </p:sp>
      <p:sp>
        <p:nvSpPr>
          <p:cNvPr id="17" name="hint.교체.savings">
            <a:extLst xmlns:a="http://schemas.openxmlformats.org/drawingml/2006/main">
              <a:ext uri="{FF2B5EF4-FFF2-40B4-BE49-F238E27FC236}">
                <a16:creationId xmlns:a16="http://schemas.microsoft.com/office/drawing/2014/main" id="{03A4B917-2C82-44E8-9980-CE2E1D05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에너지·정비·인력비 차이, 불량·정지 손실 변화</a:t>
            </a:r>
          </a:p>
        </p:txBody>
      </p:sp>
      <p:sp>
        <p:nvSpPr>
          <p:cNvPr id="18" name="field.교체.savings">
            <a:extLst xmlns:a="http://schemas.openxmlformats.org/drawingml/2006/main">
              <a:ext uri="{FF2B5EF4-FFF2-40B4-BE49-F238E27FC236}">
                <a16:creationId xmlns:a16="http://schemas.microsoft.com/office/drawing/2014/main" id="{1CBA5534-C8E1-4CFF-B33D-61C7235A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673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</p:spTree>
    <p:extLst>
      <p:ext uri="{BB962C8B-B14F-4D97-AF65-F5344CB8AC3E}">
        <p14:creationId xmlns:p14="http://schemas.microsoft.com/office/powerpoint/2010/main" val="7805878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91E6C89A-401A-4A32-9065-A874BC05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rPr>
              <a:t>안전환경 사업 상세 정보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CCC1A2-4EC8-4318-9294-4C922991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적용 의무·개선 성능·잔여 위험의 확인 / 해당 유형만 작성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AA58D28-D3D4-4C66-9D30-F771913D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투자요청 표준서식 v1   /   8</a:t>
            </a:r>
          </a:p>
        </p:txBody>
      </p:sp>
      <p:sp>
        <p:nvSpPr>
          <p:cNvPr id="4" name="label.안전환경.obligation">
            <a:extLst xmlns:a="http://schemas.openxmlformats.org/drawingml/2006/main">
              <a:ext uri="{FF2B5EF4-FFF2-40B4-BE49-F238E27FC236}">
                <a16:creationId xmlns:a16="http://schemas.microsoft.com/office/drawing/2014/main" id="{EFB84190-3F2F-4D09-A563-777FD314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적용 의무·개선 기한</a:t>
            </a:r>
          </a:p>
        </p:txBody>
      </p:sp>
      <p:sp>
        <p:nvSpPr>
          <p:cNvPr id="5" name="hint.안전환경.obligation">
            <a:extLst xmlns:a="http://schemas.openxmlformats.org/drawingml/2006/main">
              <a:ext uri="{FF2B5EF4-FFF2-40B4-BE49-F238E27FC236}">
                <a16:creationId xmlns:a16="http://schemas.microsoft.com/office/drawing/2014/main" id="{59148C67-9C4D-440F-B394-B4F3F130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법규·허가조건 원문, 조항, 관할 확인, 이행기한</a:t>
            </a:r>
          </a:p>
        </p:txBody>
      </p:sp>
      <p:sp>
        <p:nvSpPr>
          <p:cNvPr id="6" name="field.안전환경.obligation">
            <a:extLst xmlns:a="http://schemas.openxmlformats.org/drawingml/2006/main">
              <a:ext uri="{FF2B5EF4-FFF2-40B4-BE49-F238E27FC236}">
                <a16:creationId xmlns:a16="http://schemas.microsoft.com/office/drawing/2014/main" id="{E900BE3C-0545-49C0-951C-D835DBEC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859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7" name="label.안전환경.baseline">
            <a:extLst xmlns:a="http://schemas.openxmlformats.org/drawingml/2006/main">
              <a:ext uri="{FF2B5EF4-FFF2-40B4-BE49-F238E27FC236}">
                <a16:creationId xmlns:a16="http://schemas.microsoft.com/office/drawing/2014/main" id="{578C5FEB-CB89-49C1-BE2D-B496677D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현재 위험·배출·노출 현황</a:t>
            </a:r>
          </a:p>
        </p:txBody>
      </p:sp>
      <p:sp>
        <p:nvSpPr>
          <p:cNvPr id="8" name="hint.안전환경.baseline">
            <a:extLst xmlns:a="http://schemas.openxmlformats.org/drawingml/2006/main">
              <a:ext uri="{FF2B5EF4-FFF2-40B4-BE49-F238E27FC236}">
                <a16:creationId xmlns:a16="http://schemas.microsoft.com/office/drawing/2014/main" id="{16ACB94E-3B64-4DBD-8976-ED70C21A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위험성 평가, 측정값과 단위, 측정일·조건</a:t>
            </a:r>
          </a:p>
        </p:txBody>
      </p:sp>
      <p:sp>
        <p:nvSpPr>
          <p:cNvPr id="9" name="field.안전환경.baseline">
            <a:extLst xmlns:a="http://schemas.openxmlformats.org/drawingml/2006/main">
              <a:ext uri="{FF2B5EF4-FFF2-40B4-BE49-F238E27FC236}">
                <a16:creationId xmlns:a16="http://schemas.microsoft.com/office/drawing/2014/main" id="{A795731C-9DB8-443F-9326-4DCC3FC3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0" name="label.안전환경.target">
            <a:extLst xmlns:a="http://schemas.openxmlformats.org/drawingml/2006/main">
              <a:ext uri="{FF2B5EF4-FFF2-40B4-BE49-F238E27FC236}">
                <a16:creationId xmlns:a16="http://schemas.microsoft.com/office/drawing/2014/main" id="{F9748AF5-236C-416E-BDA5-D7823303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목표 수준·검증 방식</a:t>
            </a:r>
          </a:p>
        </p:txBody>
      </p:sp>
      <p:sp>
        <p:nvSpPr>
          <p:cNvPr id="11" name="hint.안전환경.target">
            <a:extLst xmlns:a="http://schemas.openxmlformats.org/drawingml/2006/main">
              <a:ext uri="{FF2B5EF4-FFF2-40B4-BE49-F238E27FC236}">
                <a16:creationId xmlns:a16="http://schemas.microsoft.com/office/drawing/2014/main" id="{A113DD39-9B02-4CEE-8C78-F8928B91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목표 성능, 적용기준, 시험·측정 방법</a:t>
            </a:r>
          </a:p>
        </p:txBody>
      </p:sp>
      <p:sp>
        <p:nvSpPr>
          <p:cNvPr id="12" name="field.안전환경.target">
            <a:extLst xmlns:a="http://schemas.openxmlformats.org/drawingml/2006/main">
              <a:ext uri="{FF2B5EF4-FFF2-40B4-BE49-F238E27FC236}">
                <a16:creationId xmlns:a16="http://schemas.microsoft.com/office/drawing/2014/main" id="{78E43C20-AA38-41A6-A1D6-4DFC904F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766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3" name="label.안전환경.alternatives">
            <a:extLst xmlns:a="http://schemas.openxmlformats.org/drawingml/2006/main">
              <a:ext uri="{FF2B5EF4-FFF2-40B4-BE49-F238E27FC236}">
                <a16:creationId xmlns:a16="http://schemas.microsoft.com/office/drawing/2014/main" id="{FB384E24-ECF8-44D9-B160-C0C321B4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개선 대안·잔여 위험</a:t>
            </a:r>
          </a:p>
        </p:txBody>
      </p:sp>
      <p:sp>
        <p:nvSpPr>
          <p:cNvPr id="14" name="hint.안전환경.alternatives">
            <a:extLst xmlns:a="http://schemas.openxmlformats.org/drawingml/2006/main">
              <a:ext uri="{FF2B5EF4-FFF2-40B4-BE49-F238E27FC236}">
                <a16:creationId xmlns:a16="http://schemas.microsoft.com/office/drawing/2014/main" id="{611AB7CF-6656-47AE-B441-7B7AE29F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339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설비·공정 변경 대안, 효과, 잔여 위험</a:t>
            </a:r>
          </a:p>
        </p:txBody>
      </p:sp>
      <p:sp>
        <p:nvSpPr>
          <p:cNvPr id="15" name="field.안전환경.alternatives">
            <a:extLst xmlns:a="http://schemas.openxmlformats.org/drawingml/2006/main">
              <a:ext uri="{FF2B5EF4-FFF2-40B4-BE49-F238E27FC236}">
                <a16:creationId xmlns:a16="http://schemas.microsoft.com/office/drawing/2014/main" id="{9BB30DA0-3466-4524-B1BD-D604645C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7197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6" name="label.안전환경.cost">
            <a:extLst xmlns:a="http://schemas.openxmlformats.org/drawingml/2006/main">
              <a:ext uri="{FF2B5EF4-FFF2-40B4-BE49-F238E27FC236}">
                <a16:creationId xmlns:a16="http://schemas.microsoft.com/office/drawing/2014/main" id="{7FF5653B-3BA8-4C28-A855-3612421B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설치·유지관리·이행 비용</a:t>
            </a:r>
          </a:p>
        </p:txBody>
      </p:sp>
      <p:sp>
        <p:nvSpPr>
          <p:cNvPr id="17" name="hint.안전환경.cost">
            <a:extLst xmlns:a="http://schemas.openxmlformats.org/drawingml/2006/main">
              <a:ext uri="{FF2B5EF4-FFF2-40B4-BE49-F238E27FC236}">
                <a16:creationId xmlns:a16="http://schemas.microsoft.com/office/drawing/2014/main" id="{659BF995-0CE2-4D5E-A1A7-284B115B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투자비, 운영비, 점검·측정비, 집행 계획</a:t>
            </a:r>
          </a:p>
        </p:txBody>
      </p:sp>
      <p:sp>
        <p:nvSpPr>
          <p:cNvPr id="18" name="field.안전환경.cost">
            <a:extLst xmlns:a="http://schemas.openxmlformats.org/drawingml/2006/main">
              <a:ext uri="{FF2B5EF4-FFF2-40B4-BE49-F238E27FC236}">
                <a16:creationId xmlns:a16="http://schemas.microsoft.com/office/drawing/2014/main" id="{25D738CD-78B2-4C21-AE52-9888256F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673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</p:spTree>
    <p:extLst>
      <p:ext uri="{BB962C8B-B14F-4D97-AF65-F5344CB8AC3E}">
        <p14:creationId xmlns:p14="http://schemas.microsoft.com/office/powerpoint/2010/main" val="1502289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CFD804D1-3068-4674-AB72-30113041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746"/>
                </a:solidFill>
                <a:latin typeface="Malgun Gothic"/>
                <a:ea typeface="Malgun Gothic"/>
                <a:cs typeface="Malgun Gothic"/>
              </a:rPr>
              <a:t>에너지 사업 상세 정보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E686C1-6F25-4E29-B02C-39DF7DFE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사용 기준선과 실현 가능한 발전·절감량의 검증 / 해당 유형만 작성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C2DB9AE8-11E0-44AE-A85F-90C95CA6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투자요청 표준서식 v1   /   9</a:t>
            </a:r>
          </a:p>
        </p:txBody>
      </p:sp>
      <p:sp>
        <p:nvSpPr>
          <p:cNvPr id="4" name="label.에너지.baseline">
            <a:extLst xmlns:a="http://schemas.openxmlformats.org/drawingml/2006/main">
              <a:ext uri="{FF2B5EF4-FFF2-40B4-BE49-F238E27FC236}">
                <a16:creationId xmlns:a16="http://schemas.microsoft.com/office/drawing/2014/main" id="{0F06AA58-6217-484B-B03A-8AD9D0AC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사용량·요금·운영 기준선</a:t>
            </a:r>
          </a:p>
        </p:txBody>
      </p:sp>
      <p:sp>
        <p:nvSpPr>
          <p:cNvPr id="5" name="hint.에너지.baseline">
            <a:extLst xmlns:a="http://schemas.openxmlformats.org/drawingml/2006/main">
              <a:ext uri="{FF2B5EF4-FFF2-40B4-BE49-F238E27FC236}">
                <a16:creationId xmlns:a16="http://schemas.microsoft.com/office/drawing/2014/main" id="{F2F827A2-111B-4219-983A-3C50A545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월별 kWh·연료량, 요금, 가동률, 생산량</a:t>
            </a:r>
          </a:p>
        </p:txBody>
      </p:sp>
      <p:sp>
        <p:nvSpPr>
          <p:cNvPr id="6" name="field.에너지.baseline">
            <a:extLst xmlns:a="http://schemas.openxmlformats.org/drawingml/2006/main">
              <a:ext uri="{FF2B5EF4-FFF2-40B4-BE49-F238E27FC236}">
                <a16:creationId xmlns:a16="http://schemas.microsoft.com/office/drawing/2014/main" id="{1EBB268F-C8D2-4866-87BD-E5698093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859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7" name="label.에너지.mode">
            <a:extLst xmlns:a="http://schemas.openxmlformats.org/drawingml/2006/main">
              <a:ext uri="{FF2B5EF4-FFF2-40B4-BE49-F238E27FC236}">
                <a16:creationId xmlns:a16="http://schemas.microsoft.com/office/drawing/2014/main" id="{CFDE2511-870E-42AD-A72C-2E3722F1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자가소비·판매·절감 방식</a:t>
            </a:r>
          </a:p>
        </p:txBody>
      </p:sp>
      <p:sp>
        <p:nvSpPr>
          <p:cNvPr id="8" name="hint.에너지.mode">
            <a:extLst xmlns:a="http://schemas.openxmlformats.org/drawingml/2006/main">
              <a:ext uri="{FF2B5EF4-FFF2-40B4-BE49-F238E27FC236}">
                <a16:creationId xmlns:a16="http://schemas.microsoft.com/office/drawing/2014/main" id="{695BF1B4-64A4-4D1C-BF23-A156C940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사업 목적, 설치 장소, 설비 용량, 소유·계약 방식</a:t>
            </a:r>
          </a:p>
        </p:txBody>
      </p:sp>
      <p:sp>
        <p:nvSpPr>
          <p:cNvPr id="9" name="field.에너지.mode">
            <a:extLst xmlns:a="http://schemas.openxmlformats.org/drawingml/2006/main">
              <a:ext uri="{FF2B5EF4-FFF2-40B4-BE49-F238E27FC236}">
                <a16:creationId xmlns:a16="http://schemas.microsoft.com/office/drawing/2014/main" id="{59FF705F-50A5-4EBE-BC9F-8490CB6D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0" name="label.에너지.performance">
            <a:extLst xmlns:a="http://schemas.openxmlformats.org/drawingml/2006/main">
              <a:ext uri="{FF2B5EF4-FFF2-40B4-BE49-F238E27FC236}">
                <a16:creationId xmlns:a16="http://schemas.microsoft.com/office/drawing/2014/main" id="{7A80E3E9-558F-4917-871D-B9CDE7E9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발전·절감 성능 가정</a:t>
            </a:r>
          </a:p>
        </p:txBody>
      </p:sp>
      <p:sp>
        <p:nvSpPr>
          <p:cNvPr id="11" name="hint.에너지.performance">
            <a:extLst xmlns:a="http://schemas.openxmlformats.org/drawingml/2006/main">
              <a:ext uri="{FF2B5EF4-FFF2-40B4-BE49-F238E27FC236}">
                <a16:creationId xmlns:a16="http://schemas.microsoft.com/office/drawing/2014/main" id="{7D782D5A-83CE-409A-9628-A1335A66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운전시간, 효율, 발전량·절감량, 열화·손실</a:t>
            </a:r>
          </a:p>
        </p:txBody>
      </p:sp>
      <p:sp>
        <p:nvSpPr>
          <p:cNvPr id="12" name="field.에너지.performance">
            <a:extLst xmlns:a="http://schemas.openxmlformats.org/drawingml/2006/main">
              <a:ext uri="{FF2B5EF4-FFF2-40B4-BE49-F238E27FC236}">
                <a16:creationId xmlns:a16="http://schemas.microsoft.com/office/drawing/2014/main" id="{2CE6AF95-F898-4104-97B6-507073E0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766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3" name="label.에너지.connection">
            <a:extLst xmlns:a="http://schemas.openxmlformats.org/drawingml/2006/main">
              <a:ext uri="{FF2B5EF4-FFF2-40B4-BE49-F238E27FC236}">
                <a16:creationId xmlns:a16="http://schemas.microsoft.com/office/drawing/2014/main" id="{1354D612-07B2-40D1-8298-DBED8A91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설치·접속·구조 조건</a:t>
            </a:r>
          </a:p>
        </p:txBody>
      </p:sp>
      <p:sp>
        <p:nvSpPr>
          <p:cNvPr id="14" name="hint.에너지.connection">
            <a:extLst xmlns:a="http://schemas.openxmlformats.org/drawingml/2006/main">
              <a:ext uri="{FF2B5EF4-FFF2-40B4-BE49-F238E27FC236}">
                <a16:creationId xmlns:a16="http://schemas.microsoft.com/office/drawing/2014/main" id="{09F14FBA-C913-4F2E-B76D-8506DBEA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339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부지·지붕 조건, 배치, 하중, 공급기관 협의</a:t>
            </a:r>
          </a:p>
        </p:txBody>
      </p:sp>
      <p:sp>
        <p:nvSpPr>
          <p:cNvPr id="15" name="field.에너지.connection">
            <a:extLst xmlns:a="http://schemas.openxmlformats.org/drawingml/2006/main">
              <a:ext uri="{FF2B5EF4-FFF2-40B4-BE49-F238E27FC236}">
                <a16:creationId xmlns:a16="http://schemas.microsoft.com/office/drawing/2014/main" id="{395FD001-9035-46BA-A61A-057F949E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7197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  <p:sp>
        <p:nvSpPr>
          <p:cNvPr id="16" name="label.에너지.cash">
            <a:extLst xmlns:a="http://schemas.openxmlformats.org/drawingml/2006/main">
              <a:ext uri="{FF2B5EF4-FFF2-40B4-BE49-F238E27FC236}">
                <a16:creationId xmlns:a16="http://schemas.microsoft.com/office/drawing/2014/main" id="{3F6AA2AF-FA8F-4DAF-B3FE-74B64828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B57"/>
                </a:solidFill>
                <a:latin typeface="Malgun Gothic"/>
                <a:ea typeface="Malgun Gothic"/>
                <a:cs typeface="Malgun Gothic"/>
              </a:rPr>
              <a:t>투자·유지비·가격 가정</a:t>
            </a:r>
          </a:p>
        </p:txBody>
      </p:sp>
      <p:sp>
        <p:nvSpPr>
          <p:cNvPr id="17" name="hint.에너지.cash">
            <a:extLst xmlns:a="http://schemas.openxmlformats.org/drawingml/2006/main">
              <a:ext uri="{FF2B5EF4-FFF2-40B4-BE49-F238E27FC236}">
                <a16:creationId xmlns:a16="http://schemas.microsoft.com/office/drawing/2014/main" id="{87E36940-565B-4E73-BB2B-99A0FF85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8717D"/>
                </a:solidFill>
                <a:latin typeface="Malgun Gothic"/>
                <a:ea typeface="Malgun Gothic"/>
                <a:cs typeface="Malgun Gothic"/>
              </a:rPr>
              <a:t>투자비, 유지비, 가격 근거, 교체·철거 비용</a:t>
            </a:r>
          </a:p>
        </p:txBody>
      </p:sp>
      <p:sp>
        <p:nvSpPr>
          <p:cNvPr id="18" name="field.에너지.cash">
            <a:extLst xmlns:a="http://schemas.openxmlformats.org/drawingml/2006/main">
              <a:ext uri="{FF2B5EF4-FFF2-40B4-BE49-F238E27FC236}">
                <a16:creationId xmlns:a16="http://schemas.microsoft.com/office/drawing/2014/main" id="{07CBFF86-8A9C-45C7-8427-56C69D52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67325"/>
            <a:ext cx="769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344"/>
                </a:solidFill>
                <a:latin typeface="Malgun Gothic"/>
                <a:ea typeface="Malgun Gothic"/>
                <a:cs typeface="Malgun Gothic"/>
              </a:rPr>
              <a:t>&lt;입력&gt;</a:t>
            </a:r>
          </a:p>
        </p:txBody>
      </p:sp>
    </p:spTree>
    <p:extLst>
      <p:ext uri="{BB962C8B-B14F-4D97-AF65-F5344CB8AC3E}">
        <p14:creationId xmlns:p14="http://schemas.microsoft.com/office/powerpoint/2010/main" val="699390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2026-10-20T12:44:24.4310000Z</dcterms:created>
  <dcterms:modified xsi:type="dcterms:W3CDTF">2026-10-20T12:44:24.4310000Z</dcterms:modified>
</coreProperties>
</file>